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0a983d0418408b" /><Relationship Type="http://schemas.openxmlformats.org/officeDocument/2006/relationships/extended-properties" Target="/docProps/app.xml" Id="R5cb7ae7e1b7241b9" /><Relationship Type="http://schemas.openxmlformats.org/officeDocument/2006/relationships/officeDocument" Target="/ppt/presentation.xml" Id="R0f4e1e64692046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4bc9005f6c4f6c"/>
  </p:sldMasterIdLst>
  <p:notesMasterIdLst>
    <p:notesMasterId xmlns:r="http://schemas.openxmlformats.org/officeDocument/2006/relationships" r:id="R0f623baecf7345a2"/>
  </p:notesMasterIdLst>
  <p:sldIdLst>
    <p:sldId xmlns:r="http://schemas.openxmlformats.org/officeDocument/2006/relationships" id="256" r:id="R92fee13fc8e24057"/>
    <p:sldId xmlns:r="http://schemas.openxmlformats.org/officeDocument/2006/relationships" id="257" r:id="R216372b733e14e2d"/>
    <p:sldId xmlns:r="http://schemas.openxmlformats.org/officeDocument/2006/relationships" id="258" r:id="Raa13790b3193496c"/>
    <p:sldId xmlns:r="http://schemas.openxmlformats.org/officeDocument/2006/relationships" id="259" r:id="R436c3c6a3e354870"/>
    <p:sldId xmlns:r="http://schemas.openxmlformats.org/officeDocument/2006/relationships" id="260" r:id="R13ce189252d14b27"/>
    <p:sldId xmlns:r="http://schemas.openxmlformats.org/officeDocument/2006/relationships" id="261" r:id="R1ca849b01fdf42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f7c88e28384d2c" /><Relationship Type="http://schemas.openxmlformats.org/officeDocument/2006/relationships/slideMaster" Target="/ppt/slideMasters/slideMaster1.xml" Id="R114bc9005f6c4f6c" /><Relationship Type="http://schemas.openxmlformats.org/officeDocument/2006/relationships/notesMaster" Target="/ppt/notesMasters/notesMaster1.xml" Id="R0f623baecf7345a2" /><Relationship Type="http://schemas.openxmlformats.org/officeDocument/2006/relationships/presProps" Target="/ppt/presProps.xml" Id="Rc51398a5eb484c78" /><Relationship Type="http://schemas.openxmlformats.org/officeDocument/2006/relationships/tableStyles" Target="/ppt/tableStyles.xml" Id="R88df9b3fcb7a49ee" /><Relationship Type="http://schemas.openxmlformats.org/officeDocument/2006/relationships/slide" Target="/ppt/slides/slide1.xml" Id="R92fee13fc8e24057" /><Relationship Type="http://schemas.openxmlformats.org/officeDocument/2006/relationships/slide" Target="/ppt/slides/slide2.xml" Id="R216372b733e14e2d" /><Relationship Type="http://schemas.openxmlformats.org/officeDocument/2006/relationships/slide" Target="/ppt/slides/slide3.xml" Id="Raa13790b3193496c" /><Relationship Type="http://schemas.openxmlformats.org/officeDocument/2006/relationships/slide" Target="/ppt/slides/slide4.xml" Id="R436c3c6a3e354870" /><Relationship Type="http://schemas.openxmlformats.org/officeDocument/2006/relationships/slide" Target="/ppt/slides/slide5.xml" Id="R13ce189252d14b27" /><Relationship Type="http://schemas.openxmlformats.org/officeDocument/2006/relationships/slide" Target="/ppt/slides/slide6.xml" Id="R1ca849b01fdf42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ed20ddabf041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16266c9e58473b" /><Relationship Type="http://schemas.openxmlformats.org/officeDocument/2006/relationships/notesMaster" Target="/ppt/notesMasters/notesMaster1.xml" Id="R1ec27f747d5f46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86330a9cd049cd" /><Relationship Type="http://schemas.openxmlformats.org/officeDocument/2006/relationships/notesMaster" Target="/ppt/notesMasters/notesMaster1.xml" Id="R4b1a15abe14448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b8449627734cdd" /><Relationship Type="http://schemas.openxmlformats.org/officeDocument/2006/relationships/notesMaster" Target="/ppt/notesMasters/notesMaster1.xml" Id="Rec39e830e56442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d12834bd524d9f" /><Relationship Type="http://schemas.openxmlformats.org/officeDocument/2006/relationships/notesMaster" Target="/ppt/notesMasters/notesMaster1.xml" Id="Rfb625f5b84324a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51dd1f0f144193" /><Relationship Type="http://schemas.openxmlformats.org/officeDocument/2006/relationships/notesMaster" Target="/ppt/notesMasters/notesMaster1.xml" Id="R2236504dd85548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9676d56a9a462c" /><Relationship Type="http://schemas.openxmlformats.org/officeDocument/2006/relationships/notesMaster" Target="/ppt/notesMasters/notesMaster1.xml" Id="Rec06591571a743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ab3084e0c646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6de2a8b01a487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9d5d995ac64f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15621b6650457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bf3b90e95840b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eac2903bb64a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CC171D-FD16-4B03-B347-B437AAA35C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84448F-6183-47EE-B955-56253217227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F9557CC-B9D2-41C8-A8CD-AD9BCEF988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7A5E1F-39DF-4861-AB82-79A47F4908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2F6DEAD-F308-4DC4-BC98-F4EB4F66D7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C5DF19F-0DC6-4EB8-89D2-3820EBAB9D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F930A8-C28F-450D-9128-86540B9BF0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D677490-D10B-454C-8BA4-A58D08616D4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595E9D-DD88-4FA3-B56D-5CBBC1553F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4184DD9-3AE0-4864-BEAD-B1A3B88221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6e1b023e1f4006" /><Relationship Type="http://schemas.openxmlformats.org/officeDocument/2006/relationships/slideLayout" Target="/ppt/slideLayouts/slideLayout1.xml" Id="Re9c37c21af7142c6" /><Relationship Type="http://schemas.openxmlformats.org/officeDocument/2006/relationships/slideLayout" Target="/ppt/slideLayouts/slideLayout2.xml" Id="Ra3e182ec2ef74889" /><Relationship Type="http://schemas.openxmlformats.org/officeDocument/2006/relationships/slideLayout" Target="/ppt/slideLayouts/slideLayout3.xml" Id="R4624584ce0ae440c" /><Relationship Type="http://schemas.openxmlformats.org/officeDocument/2006/relationships/slideLayout" Target="/ppt/slideLayouts/slideLayout4.xml" Id="R978f23a0ff9b4c9c" /><Relationship Type="http://schemas.openxmlformats.org/officeDocument/2006/relationships/slideLayout" Target="/ppt/slideLayouts/slideLayout5.xml" Id="R5be69ebb2bed4fc6" /><Relationship Type="http://schemas.openxmlformats.org/officeDocument/2006/relationships/slideLayout" Target="/ppt/slideLayouts/slideLayout6.xml" Id="Rf1711f1dc18840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c37c21af7142c6"/>
    <p:sldLayoutId xmlns:r="http://schemas.openxmlformats.org/officeDocument/2006/relationships" id="2147483650" r:id="Ra3e182ec2ef74889"/>
    <p:sldLayoutId xmlns:r="http://schemas.openxmlformats.org/officeDocument/2006/relationships" id="2147483651" r:id="R4624584ce0ae440c"/>
    <p:sldLayoutId xmlns:r="http://schemas.openxmlformats.org/officeDocument/2006/relationships" id="2147483652" r:id="R978f23a0ff9b4c9c"/>
    <p:sldLayoutId xmlns:r="http://schemas.openxmlformats.org/officeDocument/2006/relationships" id="2147483653" r:id="R5be69ebb2bed4fc6"/>
    <p:sldLayoutId xmlns:r="http://schemas.openxmlformats.org/officeDocument/2006/relationships" id="2147483654" r:id="Rf1711f1dc18840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ccd0c6c3ca4522" /><Relationship Type="http://schemas.openxmlformats.org/officeDocument/2006/relationships/notesSlide" Target="/ppt/notesSlides/notesSlide1.xml" Id="R24c444f28d1442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eb3fa421d64f89" /><Relationship Type="http://schemas.openxmlformats.org/officeDocument/2006/relationships/notesSlide" Target="/ppt/notesSlides/notesSlide2.xml" Id="Re59587a73f844d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22a18509744d45" /><Relationship Type="http://schemas.openxmlformats.org/officeDocument/2006/relationships/chart" Target="/ppt/slides/charts/chart1.xml" Id="Rd21010e1b7c04347" /><Relationship Type="http://schemas.openxmlformats.org/officeDocument/2006/relationships/notesSlide" Target="/ppt/notesSlides/notesSlide3.xml" Id="R74bb599249a74b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84ee4223b147bd" /><Relationship Type="http://schemas.openxmlformats.org/officeDocument/2006/relationships/chart" Target="/ppt/slides/charts/chart2.xml" Id="R5c896c59f4f04bc9" /><Relationship Type="http://schemas.openxmlformats.org/officeDocument/2006/relationships/notesSlide" Target="/ppt/notesSlides/notesSlide4.xml" Id="R169bb185815940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e814e7216c4d75" /><Relationship Type="http://schemas.openxmlformats.org/officeDocument/2006/relationships/notesSlide" Target="/ppt/notesSlides/notesSlide5.xml" Id="R22273c7b1df744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0a809bdc7f4e02" /><Relationship Type="http://schemas.openxmlformats.org/officeDocument/2006/relationships/notesSlide" Target="/ppt/notesSlides/notesSlide6.xml" Id="Rad28b5cfba7b4c2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Damage Macro-F1</c:v>
          </c:tx>
          <c:spPr>
            <a:solidFill xmlns:a="http://schemas.openxmlformats.org/drawingml/2006/main">
              <a:srgbClr val="2F75B5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A9D8F"/>
              </a:solidFill>
            </c:spPr>
          </c:dPt>
          <c:cat>
            <c:strLit>
              <c:ptCount val="6"/>
              <c:pt idx="0">
                <c:v>Full</c:v>
              </c:pt>
              <c:pt idx="1">
                <c:v>ResNet</c:v>
              </c:pt>
              <c:pt idx="2">
                <c:v>Swin</c:v>
              </c:pt>
              <c:pt idx="3">
                <c:v>No cross-attn.</c:v>
              </c:pt>
              <c:pt idx="4">
                <c:v>No guidance</c:v>
              </c:pt>
              <c:pt idx="5">
                <c:v>No ordinal</c:v>
              </c:pt>
            </c:strLit>
          </c:cat>
          <c:val>
            <c:numLit>
              <c:formatCode>0.00</c:formatCode>
              <c:ptCount val="6"/>
              <c:pt idx="0">
                <c:v>0.7756</c:v>
              </c:pt>
              <c:pt idx="1">
                <c:v>0.7255</c:v>
              </c:pt>
              <c:pt idx="2">
                <c:v>0.7659</c:v>
              </c:pt>
              <c:pt idx="3">
                <c:v>0.7696</c:v>
              </c:pt>
              <c:pt idx="4">
                <c:v>0.7617</c:v>
              </c:pt>
              <c:pt idx="5">
                <c:v>0.7679</c:v>
              </c:pt>
            </c:numLit>
          </c:val>
        </c:ser>
        <c:dLbls>
          <c:numFmt formatCode="0.0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0.8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1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Macro-F1 loss vs. full</c:v>
          </c:tx>
          <c:spPr>
            <a:solidFill xmlns:a="http://schemas.openxmlformats.org/drawingml/2006/main">
              <a:srgbClr val="2F75B5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C00000"/>
              </a:solidFill>
            </c:spPr>
          </c:dPt>
          <c:cat>
            <c:strLit>
              <c:ptCount val="6"/>
              <c:pt idx="0">
                <c:v>Full</c:v>
              </c:pt>
              <c:pt idx="1">
                <c:v>ResNet</c:v>
              </c:pt>
              <c:pt idx="2">
                <c:v>Swin</c:v>
              </c:pt>
              <c:pt idx="3">
                <c:v>No cross-attn.</c:v>
              </c:pt>
              <c:pt idx="4">
                <c:v>No guidance</c:v>
              </c:pt>
              <c:pt idx="5">
                <c:v>No ordinal</c:v>
              </c:pt>
            </c:strLit>
          </c:cat>
          <c:val>
            <c:numLit>
              <c:formatCode>0.000</c:formatCode>
              <c:ptCount val="6"/>
              <c:pt idx="0">
                <c:v>0</c:v>
              </c:pt>
              <c:pt idx="1">
                <c:v>0.05</c:v>
              </c:pt>
              <c:pt idx="2">
                <c:v>0.0097</c:v>
              </c:pt>
              <c:pt idx="3">
                <c:v>0.006</c:v>
              </c:pt>
              <c:pt idx="4">
                <c:v>0.0138</c:v>
              </c:pt>
              <c:pt idx="5">
                <c:v>0.0077</c:v>
              </c:pt>
            </c:numLit>
          </c:val>
        </c:ser>
        <c:dLbls>
          <c:numFmt formatCode="0.0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0.05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01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667E6-02D4-4A32-98F6-80DCE218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01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A9CBE8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9CBE8"/>
                </a:solidFill>
              </a:defRPr>
            </a:pPr>
            <a:r>
              <a:rPr sz="1350" b="1">
                <a:solidFill>
                  <a:srgbClr val="A9CBE8"/>
                </a:solidFill>
              </a:rPr>
              <a:t>RS-BDNet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23291-4821-451C-A955-1282ED59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904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xBD component ablation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2EE63-7709-49C9-A97E-A80D2734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DCE6F0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CE6F0"/>
                </a:solidFill>
              </a:defRPr>
            </a:pPr>
            <a:r>
              <a:rPr sz="1725" b="0">
                <a:solidFill>
                  <a:srgbClr val="DCE6F0"/>
                </a:solidFill>
              </a:rPr>
              <a:t>Observed performance, parameter tradeoffs, and planned statistical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812BE-4398-4CE0-B320-8FE8C62F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A9CBE8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9CBE8"/>
                </a:solidFill>
              </a:defRPr>
            </a:pPr>
            <a:r>
              <a:rPr sz="1275" b="1">
                <a:solidFill>
                  <a:srgbClr val="A9CBE8"/>
                </a:solidFill>
              </a:rPr>
              <a:t>Complete model Macro-F1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2FB77-84AD-4784-8704-F107ED14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0.7756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AD87B-702F-47E8-828F-5B5F6A95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DCE6F0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DCE6F0"/>
                </a:solidFill>
              </a:defRPr>
            </a:pPr>
            <a:r>
              <a:rPr sz="1350" b="0">
                <a:solidFill>
                  <a:srgbClr val="DCE6F0"/>
                </a:solidFill>
              </a:rPr>
              <a:t>Six configurations evaluated with the same xBD protocol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9E2E6D-B8F8-4785-985C-584ADF12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0483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0">
                <a:solidFill>
                  <a:srgbClr val="A9CBE8"/>
                </a:solidFill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A9CBE8"/>
                </a:solidFill>
              </a:defRPr>
            </a:pPr>
            <a:r>
              <a:rPr sz="1050" b="0">
                <a:solidFill>
                  <a:srgbClr val="A9CBE8"/>
                </a:solidFill>
              </a:rPr>
              <a:t>Supervisor discussion</a:t>
            </a:r>
          </a:p>
        </p:txBody>
      </p:sp>
    </p:spTree>
    <p:extLst>
      <p:ext uri="{BB962C8B-B14F-4D97-AF65-F5344CB8AC3E}">
        <p14:creationId xmlns:p14="http://schemas.microsoft.com/office/powerpoint/2010/main" val="3398810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BCA33B-CB7D-47E0-AB0D-0712B378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7365D"/>
                </a:solidFill>
              </a:defRPr>
            </a:pPr>
            <a:r>
              <a:rPr sz="2250" b="1">
                <a:solidFill>
                  <a:srgbClr val="17365D"/>
                </a:solidFill>
              </a:rPr>
              <a:t>Ablation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7255D-1ACC-4F19-A802-1D86785A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FC0A0-64A4-491A-A995-6CE9D263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BDB71-C053-4280-9D18-A992BA3F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Reference configuration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49ABC-034E-4757-AF68-27FA8954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Full RS-BDNet combines the ResNet-34 U-Net and Swin-Tiny branches with cross-attention, building guidance, and ordinal supervision.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F169D8-BAB5-4E43-B7A1-96409F80C85D}"/>
              </a:ext>
            </a:extLst>
          </p:cNvPr>
          <p:cNvGraphicFramePr/>
          <p:nvPr/>
        </p:nvGraphicFramePr>
        <p:xfrm>
          <a:off xmlns:a="http://schemas.openxmlformats.org/drawingml/2006/main" x="5238750" y="1200150"/>
          <a:ext xmlns:a="http://schemas.openxmlformats.org/drawingml/2006/main" cx="61912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4143375"/>
              </a:tblGrid>
              <a:tr h="619125">
                <a:tc>
                  <a:txBody>
                    <a:bodyPr/>
                    <a:lstStyle/>
                    <a:p>
                      <a:r>
                        <a:t>Configuration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Question answered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ResNet only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What is lost without the Transformer branch?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Swin only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What is lost without the CNN branch?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No cross-attention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Does explicit bi-temporal interaction help?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No building guidance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Does localization-guided damage prediction help?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No ordinal learning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Does severity-aware supervision help?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6DB37-A3BB-4056-BDA7-434C757B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Control conditions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0B247-2202-4D0B-829D-F7DFC8C8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Each variant used the same xBD partitions, preprocessing, optimization procedure, validation-based checkpoint selection, and held-out test evaluation.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7B9EE-07FB-48DF-B85C-7322F66A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8A5A00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8A5A00"/>
                </a:solidFill>
              </a:defRPr>
            </a:pPr>
            <a:r>
              <a:rPr sz="1275" b="1">
                <a:solidFill>
                  <a:srgbClr val="8A5A00"/>
                </a:solidFill>
              </a:rPr>
              <a:t>Current limitation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0C4A11-2470-4384-A16F-24A27943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One training run per configuration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EF82F1-C5BC-41A3-B9DB-F9D456B5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7A8491"/>
                </a:solidFill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7A8491"/>
                </a:solidFill>
              </a:defRPr>
            </a:pPr>
            <a:r>
              <a:rPr sz="825" b="0">
                <a:solidFill>
                  <a:srgbClr val="7A8491"/>
                </a:solidFill>
              </a:rPr>
              <a:t>xBD ablation study</a:t>
            </a:r>
          </a:p>
        </p:txBody>
      </p:sp>
    </p:spTree>
    <p:extLst>
      <p:ext uri="{BB962C8B-B14F-4D97-AF65-F5344CB8AC3E}">
        <p14:creationId xmlns:p14="http://schemas.microsoft.com/office/powerpoint/2010/main" val="9856959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7C0267-8C36-4999-91C2-75BFE041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7365D"/>
                </a:solidFill>
              </a:defRPr>
            </a:pPr>
            <a:r>
              <a:rPr sz="2250" b="1">
                <a:solidFill>
                  <a:srgbClr val="17365D"/>
                </a:solidFill>
              </a:rPr>
              <a:t>The complete model achieved the highest xBD Macro-F1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2084A-BE43-4865-A373-66694C97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86373-3BA0-4617-A70E-E89A574E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F7C7FDB-6337-460A-B477-AAB490FAEBF3}"/>
              </a:ext>
            </a:extLst>
          </p:cNvPr>
          <p:cNvGraphicFramePr/>
          <p:nvPr/>
        </p:nvGraphicFramePr>
        <p:xfrm>
          <a:off xmlns:a="http://schemas.openxmlformats.org/drawingml/2006/main" x="628650" y="1200150"/>
          <a:ext xmlns:a="http://schemas.openxmlformats.org/drawingml/2006/main" cx="7239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1010e1b7c0434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F4769E-5A26-49B3-A028-DF89EC81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76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Observed Macro-F1 losses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80D27-36D4-42E5-846F-1BE1E9ADD543}"/>
              </a:ext>
            </a:extLst>
          </p:cNvPr>
          <p:cNvGraphicFramePr/>
          <p:nvPr/>
        </p:nvGraphicFramePr>
        <p:xfrm>
          <a:off xmlns:a="http://schemas.openxmlformats.org/drawingml/2006/main" x="8286750" y="1676400"/>
          <a:ext xmlns:a="http://schemas.openxmlformats.org/drawingml/2006/main" cx="31432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952500"/>
              </a:tblGrid>
              <a:tr h="476250">
                <a:tc>
                  <a:txBody>
                    <a:bodyPr/>
                    <a:lstStyle/>
                    <a:p>
                      <a:r>
                        <a:t>Removed component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Loss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ResNet-only model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0.0500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Building guidance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0.0138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CNN branch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0.0097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Ordinal learning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0.0077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Cross-attention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0.0060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78A3B-8012-4FCD-BD5E-8FD736B7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577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The single-branch results support complementary CNN and Transformer features. The smaller component gains still require uncertainty analysis.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C9BA7-06AA-4F85-9CFE-6C0E6E36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7A8491"/>
                </a:solidFill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7A8491"/>
                </a:solidFill>
              </a:defRPr>
            </a:pPr>
            <a:r>
              <a:rPr sz="825" b="0">
                <a:solidFill>
                  <a:srgbClr val="7A8491"/>
                </a:solidFill>
              </a:rPr>
              <a:t>xBD ablation study</a:t>
            </a:r>
          </a:p>
        </p:txBody>
      </p:sp>
    </p:spTree>
    <p:extLst>
      <p:ext uri="{BB962C8B-B14F-4D97-AF65-F5344CB8AC3E}">
        <p14:creationId xmlns:p14="http://schemas.microsoft.com/office/powerpoint/2010/main" val="14244710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766F96-E322-419C-90D9-41C184B4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7365D"/>
                </a:solidFill>
              </a:defRPr>
            </a:pPr>
            <a:r>
              <a:rPr sz="2250" b="1">
                <a:solidFill>
                  <a:srgbClr val="17365D"/>
                </a:solidFill>
              </a:rPr>
              <a:t>Performance and parameter tradeoffs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F3207-09C2-4517-8CE0-4ED521C5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DD12B-953A-4862-952A-F8638C13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5695673B-08D7-4999-9614-27A2E50FAA40}"/>
              </a:ext>
            </a:extLst>
          </p:cNvPr>
          <p:cNvGraphicFramePr/>
          <p:nvPr/>
        </p:nvGraphicFramePr>
        <p:xfrm>
          <a:off xmlns:a="http://schemas.openxmlformats.org/drawingml/2006/main" x="666750" y="1257300"/>
          <a:ext xmlns:a="http://schemas.openxmlformats.org/drawingml/2006/main" cx="6572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896c59f4f04bc9"/>
          </a:graphicData>
        </a:graphic>
      </p:graphicFrame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DFCAB-CB78-4D22-A836-1B242B4DBBBF}"/>
              </a:ext>
            </a:extLst>
          </p:cNvPr>
          <p:cNvGraphicFramePr/>
          <p:nvPr/>
        </p:nvGraphicFramePr>
        <p:xfrm>
          <a:off xmlns:a="http://schemas.openxmlformats.org/drawingml/2006/main" x="7620000" y="1314450"/>
          <a:ext xmlns:a="http://schemas.openxmlformats.org/drawingml/2006/main" cx="3810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952500"/>
                <a:gridCol w="857250"/>
              </a:tblGrid>
              <a:tr h="496661">
                <a:tc>
                  <a:txBody>
                    <a:bodyPr/>
                    <a:lstStyle/>
                    <a:p>
                      <a:r>
                        <a:t>Configuration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Params (M)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Reduction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t>Full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55.304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t>ResNet only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26.659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51.8%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t>Swin only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28.998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47.6%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t>No cross-attn.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55.154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t>No building guide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55.303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t>No ordinal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55.304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10599-532D-42AA-BFD6-34AA58AF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105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365D"/>
                </a:solidFill>
              </a:defRPr>
            </a:pPr>
            <a:r>
              <a:rPr sz="1275" b="1">
                <a:solidFill>
                  <a:srgbClr val="17365D"/>
                </a:solidFill>
              </a:rPr>
              <a:t>Parameter interpretation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7FFC3-D3AA-4484-95A7-5E2EAB4D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29250"/>
            <a:ext cx="3752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Single branches nearly halve the parameter count, but both reduce Macro-F1. Removing the smaller modules changes parameters very little.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4E330-7442-4A7B-988B-5294F3AE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7A8491"/>
                </a:solidFill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7A8491"/>
                </a:solidFill>
              </a:defRPr>
            </a:pPr>
            <a:r>
              <a:rPr sz="825" b="0">
                <a:solidFill>
                  <a:srgbClr val="7A8491"/>
                </a:solidFill>
              </a:rPr>
              <a:t>xBD ablation study</a:t>
            </a:r>
          </a:p>
        </p:txBody>
      </p:sp>
    </p:spTree>
    <p:extLst>
      <p:ext uri="{BB962C8B-B14F-4D97-AF65-F5344CB8AC3E}">
        <p14:creationId xmlns:p14="http://schemas.microsoft.com/office/powerpoint/2010/main" val="10849879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861699-72B0-42FE-8608-632617CD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7365D"/>
                </a:solidFill>
              </a:defRPr>
            </a:pPr>
            <a:r>
              <a:rPr sz="2250" b="1">
                <a:solidFill>
                  <a:srgbClr val="17365D"/>
                </a:solidFill>
              </a:rPr>
              <a:t>Class-wise damage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48495-1F2D-4E92-BBD4-3E7DB8A2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C7EA3-798D-493D-A353-F8B7164B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EBBF6-0ACB-409C-9F65-4B5F3E184DD5}"/>
              </a:ext>
            </a:extLst>
          </p:cNvPr>
          <p:cNvGraphicFramePr/>
          <p:nvPr/>
        </p:nvGraphicFramePr>
        <p:xfrm>
          <a:off xmlns:a="http://schemas.openxmlformats.org/drawingml/2006/main" x="685800" y="127635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590675"/>
                <a:gridCol w="1590675"/>
                <a:gridCol w="1590675"/>
                <a:gridCol w="1590675"/>
                <a:gridCol w="1590675"/>
              </a:tblGrid>
              <a:tr h="557893">
                <a:tc>
                  <a:txBody>
                    <a:bodyPr/>
                    <a:lstStyle/>
                    <a:p>
                      <a:r>
                        <a:t>Configuration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No damage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Minor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Major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Destroyed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Macro-F1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Full RS-BDNet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0.9356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0.5648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0.7520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0.8499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0.7756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ResNet only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0.9183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0.4363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0.7251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0.8224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0.7255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Swin only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0.9347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0.5505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0.7350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0.8434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0.7659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No cross-attention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0.9354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0.5606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0.7400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0.8423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0.7696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No building guidance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0.9303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0.5541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0.7290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0.8334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0.7617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No ordinal learning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0.9379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0.5511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0.7464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0.8362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0.7679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85E71-064E-4852-87D7-104B82F6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673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Minor damage remains the weakest class for every configuration. The full model produces its largest class-wise advantage over ResNet only on minor damage (+0.1285).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433D8-25D8-4AAC-B361-5F4C7FC2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7A8491"/>
                </a:solidFill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7A8491"/>
                </a:solidFill>
              </a:defRPr>
            </a:pPr>
            <a:r>
              <a:rPr sz="825" b="0">
                <a:solidFill>
                  <a:srgbClr val="7A8491"/>
                </a:solidFill>
              </a:rPr>
              <a:t>xBD ablation study</a:t>
            </a:r>
          </a:p>
        </p:txBody>
      </p:sp>
    </p:spTree>
    <p:extLst>
      <p:ext uri="{BB962C8B-B14F-4D97-AF65-F5344CB8AC3E}">
        <p14:creationId xmlns:p14="http://schemas.microsoft.com/office/powerpoint/2010/main" val="7069290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E8542D-3D4D-4EE8-A3B1-D82D030E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7365D"/>
                </a:solidFill>
              </a:defRPr>
            </a:pPr>
            <a:r>
              <a:rPr sz="2250" b="1">
                <a:solidFill>
                  <a:srgbClr val="17365D"/>
                </a:solidFill>
              </a:rPr>
              <a:t>Planned statistical robustness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16D30-4923-469B-AACA-F80FCE2C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F186F-6291-4C01-BC12-8ED0ED4C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17CE5-51D1-4E54-A240-B01F12DD00A7}"/>
              </a:ext>
            </a:extLst>
          </p:cNvPr>
          <p:cNvGraphicFramePr/>
          <p:nvPr/>
        </p:nvGraphicFramePr>
        <p:xfrm>
          <a:off xmlns:a="http://schemas.openxmlformats.org/drawingml/2006/main" x="647700" y="1257300"/>
          <a:ext xmlns:a="http://schemas.openxmlformats.org/drawingml/2006/main" cx="108966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9625"/>
                <a:gridCol w="5715000"/>
                <a:gridCol w="4371975"/>
              </a:tblGrid>
              <a:tr h="619125">
                <a:tc>
                  <a:txBody>
                    <a:bodyPr/>
                    <a:lstStyle/>
                    <a:p>
                      <a:r>
                        <a:t>Step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Planned procedure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What it provides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Run all saved checkpoints on the same test images.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Paired image-level observations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Store per-image localization and damage confusion counts.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Consistent multi-class metric calculation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Perform 10,000 paired bootstrap resamples.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95% confidence intervals for metrics and differences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Apply two-sided paired Wilcoxon signed-rank tests.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Raw p-values for full model versus each ablation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Apply Holm correction across five comparisons.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Adjusted p-values with controlled false positives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852F6-396F-4954-9EE7-0C672535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8A5A00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8A5A00"/>
                </a:solidFill>
              </a:defRPr>
            </a:pPr>
            <a:r>
              <a:rPr sz="1275" b="1">
                <a:solidFill>
                  <a:srgbClr val="8A5A00"/>
                </a:solidFill>
              </a:rPr>
              <a:t>Interpretation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5ADD2-B00C-4FB2-BD6B-4C459A08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744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This test measures uncertainty across test-image composition. It does not measure training variability across random seeds. Multiple-seed training remains a separate extension.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5A8CC-D28F-4E9E-A5B4-8B00EA73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7A8491"/>
                </a:solidFill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7A8491"/>
                </a:solidFill>
              </a:defRPr>
            </a:pPr>
            <a:r>
              <a:rPr sz="825" b="0">
                <a:solidFill>
                  <a:srgbClr val="7A8491"/>
                </a:solidFill>
              </a:rPr>
              <a:t>Planned analysis based on the Insta-BDA image-level approach</a:t>
            </a:r>
          </a:p>
        </p:txBody>
      </p:sp>
    </p:spTree>
    <p:extLst>
      <p:ext uri="{BB962C8B-B14F-4D97-AF65-F5344CB8AC3E}">
        <p14:creationId xmlns:p14="http://schemas.microsoft.com/office/powerpoint/2010/main" val="11183030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2026-10-20T19:16:38.8400000Z</dcterms:created>
  <dcterms:modified xsi:type="dcterms:W3CDTF">2026-10-20T19:16:38.8400000Z</dcterms:modified>
</coreProperties>
</file>