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dbf1a1e07946a5" /><Relationship Type="http://schemas.openxmlformats.org/officeDocument/2006/relationships/extended-properties" Target="/docProps/app.xml" Id="R42288d7aca86412c" /><Relationship Type="http://schemas.openxmlformats.org/officeDocument/2006/relationships/officeDocument" Target="/ppt/presentation.xml" Id="Rff23d788f2c349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82f42aa7b6475c"/>
  </p:sldMasterIdLst>
  <p:notesMasterIdLst>
    <p:notesMasterId xmlns:r="http://schemas.openxmlformats.org/officeDocument/2006/relationships" r:id="R567b9dc733524d65"/>
  </p:notesMasterIdLst>
  <p:sldIdLst>
    <p:sldId xmlns:r="http://schemas.openxmlformats.org/officeDocument/2006/relationships" id="256" r:id="R0722b37d59264d8c"/>
    <p:sldId xmlns:r="http://schemas.openxmlformats.org/officeDocument/2006/relationships" id="257" r:id="R95f53fc4cfe74bd5"/>
    <p:sldId xmlns:r="http://schemas.openxmlformats.org/officeDocument/2006/relationships" id="258" r:id="Ra1c7c79134a44dba"/>
    <p:sldId xmlns:r="http://schemas.openxmlformats.org/officeDocument/2006/relationships" id="259" r:id="Re5682034018f47db"/>
    <p:sldId xmlns:r="http://schemas.openxmlformats.org/officeDocument/2006/relationships" id="260" r:id="R89f5fc70480f4645"/>
    <p:sldId xmlns:r="http://schemas.openxmlformats.org/officeDocument/2006/relationships" id="261" r:id="Rf179a93a12ac41fe"/>
    <p:sldId xmlns:r="http://schemas.openxmlformats.org/officeDocument/2006/relationships" id="262" r:id="R9a681c86bf0048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c7f3bd83b845f1" /><Relationship Type="http://schemas.openxmlformats.org/officeDocument/2006/relationships/slideMaster" Target="/ppt/slideMasters/slideMaster1.xml" Id="R2a82f42aa7b6475c" /><Relationship Type="http://schemas.openxmlformats.org/officeDocument/2006/relationships/notesMaster" Target="/ppt/notesMasters/notesMaster1.xml" Id="R567b9dc733524d65" /><Relationship Type="http://schemas.openxmlformats.org/officeDocument/2006/relationships/presProps" Target="/ppt/presProps.xml" Id="Rb5cdeae91a744740" /><Relationship Type="http://schemas.openxmlformats.org/officeDocument/2006/relationships/tableStyles" Target="/ppt/tableStyles.xml" Id="R9a364ccd50954622" /><Relationship Type="http://schemas.openxmlformats.org/officeDocument/2006/relationships/slide" Target="/ppt/slides/slide1.xml" Id="R0722b37d59264d8c" /><Relationship Type="http://schemas.openxmlformats.org/officeDocument/2006/relationships/slide" Target="/ppt/slides/slide2.xml" Id="R95f53fc4cfe74bd5" /><Relationship Type="http://schemas.openxmlformats.org/officeDocument/2006/relationships/slide" Target="/ppt/slides/slide3.xml" Id="Ra1c7c79134a44dba" /><Relationship Type="http://schemas.openxmlformats.org/officeDocument/2006/relationships/slide" Target="/ppt/slides/slide4.xml" Id="Re5682034018f47db" /><Relationship Type="http://schemas.openxmlformats.org/officeDocument/2006/relationships/slide" Target="/ppt/slides/slide5.xml" Id="R89f5fc70480f4645" /><Relationship Type="http://schemas.openxmlformats.org/officeDocument/2006/relationships/slide" Target="/ppt/slides/slide6.xml" Id="Rf179a93a12ac41fe" /><Relationship Type="http://schemas.openxmlformats.org/officeDocument/2006/relationships/slide" Target="/ppt/slides/slide7.xml" Id="R9a681c86bf0048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9d0bc0839c46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4877e956ad4dc8" /><Relationship Type="http://schemas.openxmlformats.org/officeDocument/2006/relationships/notesMaster" Target="/ppt/notesMasters/notesMaster1.xml" Id="R8c9641d9911842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3422cbfc7940a8" /><Relationship Type="http://schemas.openxmlformats.org/officeDocument/2006/relationships/notesMaster" Target="/ppt/notesMasters/notesMaster1.xml" Id="Re80ccc85614944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7d42c2c5b749cf" /><Relationship Type="http://schemas.openxmlformats.org/officeDocument/2006/relationships/notesMaster" Target="/ppt/notesMasters/notesMaster1.xml" Id="R58e87973898f46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52deeec2e14b8a" /><Relationship Type="http://schemas.openxmlformats.org/officeDocument/2006/relationships/notesMaster" Target="/ppt/notesMasters/notesMaster1.xml" Id="Ra1cf910159634b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f196cfb58142f8" /><Relationship Type="http://schemas.openxmlformats.org/officeDocument/2006/relationships/notesMaster" Target="/ppt/notesMasters/notesMaster1.xml" Id="R5b649ca3ca3541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346cd9b1344926" /><Relationship Type="http://schemas.openxmlformats.org/officeDocument/2006/relationships/notesMaster" Target="/ppt/notesMasters/notesMaster1.xml" Id="R998b502a226046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d75c8b6021409e" /><Relationship Type="http://schemas.openxmlformats.org/officeDocument/2006/relationships/notesMaster" Target="/ppt/notesMasters/notesMaster1.xml" Id="Rde4f77ea6d7f44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1784a679f4b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d69556fda4c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da50febf440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f0866c5cc43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9c67f93d045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e77ec59044e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B691AC-6780-4648-A913-748799B9ED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783C43-5922-4971-BA53-BDA842F6FC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126321-CB60-418B-ADD5-0E9186A118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EF252A-93BF-4C9C-B9CE-2F9E64E33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857846-A046-40D0-B83B-402D35C2D1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420E73-B133-4574-BBB0-4FAB70601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8287C7-03A0-4B1A-8C62-FB90BA159F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E629F8-0615-4915-9172-0085DE9D22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978921-8847-4008-B559-3F28767E7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AB1213-93D5-4D25-BF1C-3A9ADA6E4F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50ccf64ac24bd0" /><Relationship Type="http://schemas.openxmlformats.org/officeDocument/2006/relationships/slideLayout" Target="/ppt/slideLayouts/slideLayout1.xml" Id="R980037857bca4019" /><Relationship Type="http://schemas.openxmlformats.org/officeDocument/2006/relationships/slideLayout" Target="/ppt/slideLayouts/slideLayout2.xml" Id="R4df71a9547fb49fe" /><Relationship Type="http://schemas.openxmlformats.org/officeDocument/2006/relationships/slideLayout" Target="/ppt/slideLayouts/slideLayout3.xml" Id="R5840c70eabba40f4" /><Relationship Type="http://schemas.openxmlformats.org/officeDocument/2006/relationships/slideLayout" Target="/ppt/slideLayouts/slideLayout4.xml" Id="Rdb32d5ccab0443a1" /><Relationship Type="http://schemas.openxmlformats.org/officeDocument/2006/relationships/slideLayout" Target="/ppt/slideLayouts/slideLayout5.xml" Id="Rc0aae9265c914ed3" /><Relationship Type="http://schemas.openxmlformats.org/officeDocument/2006/relationships/slideLayout" Target="/ppt/slideLayouts/slideLayout6.xml" Id="R89253d9a90ea48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0037857bca4019"/>
    <p:sldLayoutId xmlns:r="http://schemas.openxmlformats.org/officeDocument/2006/relationships" id="2147483650" r:id="R4df71a9547fb49fe"/>
    <p:sldLayoutId xmlns:r="http://schemas.openxmlformats.org/officeDocument/2006/relationships" id="2147483651" r:id="R5840c70eabba40f4"/>
    <p:sldLayoutId xmlns:r="http://schemas.openxmlformats.org/officeDocument/2006/relationships" id="2147483652" r:id="Rdb32d5ccab0443a1"/>
    <p:sldLayoutId xmlns:r="http://schemas.openxmlformats.org/officeDocument/2006/relationships" id="2147483653" r:id="Rc0aae9265c914ed3"/>
    <p:sldLayoutId xmlns:r="http://schemas.openxmlformats.org/officeDocument/2006/relationships" id="2147483654" r:id="R89253d9a90ea48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f2ad6ecc0c46dc" /><Relationship Type="http://schemas.openxmlformats.org/officeDocument/2006/relationships/notesSlide" Target="/ppt/notesSlides/notesSlide1.xml" Id="R09be2a0e6a0847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71f3458564668" /><Relationship Type="http://schemas.openxmlformats.org/officeDocument/2006/relationships/notesSlide" Target="/ppt/notesSlides/notesSlide2.xml" Id="Rb28ab9666185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d94c850f54923" /><Relationship Type="http://schemas.openxmlformats.org/officeDocument/2006/relationships/notesSlide" Target="/ppt/notesSlides/notesSlide3.xml" Id="R79e27d6d61e74d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979f3ae5a4844" /><Relationship Type="http://schemas.openxmlformats.org/officeDocument/2006/relationships/chart" Target="/ppt/slides/charts/chart1.xml" Id="Rf8aae8fc39034900" /><Relationship Type="http://schemas.openxmlformats.org/officeDocument/2006/relationships/notesSlide" Target="/ppt/notesSlides/notesSlide4.xml" Id="R1a5cf38b70864f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4f5dfef2794b20" /><Relationship Type="http://schemas.openxmlformats.org/officeDocument/2006/relationships/notesSlide" Target="/ppt/notesSlides/notesSlide5.xml" Id="R864ea097d1a344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bc79bcead45e5" /><Relationship Type="http://schemas.openxmlformats.org/officeDocument/2006/relationships/notesSlide" Target="/ppt/notesSlides/notesSlide6.xml" Id="R7e1048cfe8ae47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4f189edbf44e6" /><Relationship Type="http://schemas.openxmlformats.org/officeDocument/2006/relationships/notesSlide" Target="/ppt/notesSlides/notesSlide7.xml" Id="R7270470c5aa84bf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Macro-F1</c:v>
          </c:tx>
          <c:spPr>
            <a:solidFill xmlns:a="http://schemas.openxmlformats.org/drawingml/2006/main">
              <a:srgbClr val="2F75B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A9D8F"/>
              </a:solidFill>
            </c:spPr>
          </c:dPt>
          <c:cat>
            <c:strLit>
              <c:ptCount val="6"/>
              <c:pt idx="0">
                <c:v>Full</c:v>
              </c:pt>
              <c:pt idx="1">
                <c:v>ResNet</c:v>
              </c:pt>
              <c:pt idx="2">
                <c:v>Swin</c:v>
              </c:pt>
              <c:pt idx="3">
                <c:v>No cross-attn.</c:v>
              </c:pt>
              <c:pt idx="4">
                <c:v>No guidance</c:v>
              </c:pt>
              <c:pt idx="5">
                <c:v>No ordinal</c:v>
              </c:pt>
            </c:strLit>
          </c:cat>
          <c:val>
            <c:numLit>
              <c:formatCode>0.00</c:formatCode>
              <c:ptCount val="6"/>
              <c:pt idx="0">
                <c:v>0.6658</c:v>
              </c:pt>
              <c:pt idx="1">
                <c:v>0.5709</c:v>
              </c:pt>
              <c:pt idx="2">
                <c:v>0.6412</c:v>
              </c:pt>
              <c:pt idx="3">
                <c:v>0.6446</c:v>
              </c:pt>
              <c:pt idx="4">
                <c:v>0.6289</c:v>
              </c:pt>
              <c:pt idx="5">
                <c:v>0.65</c:v>
              </c:pt>
            </c:numLit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7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1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46392-09B8-4927-A1B9-BF17ED2C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A9CBE8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CBE8"/>
                </a:solidFill>
              </a:defRPr>
            </a:pPr>
            <a:r>
              <a:rPr sz="1350" b="1">
                <a:solidFill>
                  <a:srgbClr val="A9CBE8"/>
                </a:solidFill>
              </a:rPr>
              <a:t>RS-BDNet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F4318-3B28-40F9-9809-7E460AFD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Ablation results across six disaster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4EE39-BAC4-417C-9C2D-FCB7C5AF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DCE6F0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DCE6F0"/>
                </a:solidFill>
              </a:defRPr>
            </a:pPr>
            <a:r>
              <a:rPr sz="1800" b="0">
                <a:solidFill>
                  <a:srgbClr val="DCE6F0"/>
                </a:solidFill>
              </a:rPr>
              <a:t>xBD + five event-specific EBD datasets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41605-01CD-4291-99E4-19671A2D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A9CBE8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9CBE8"/>
                </a:solidFill>
              </a:defRPr>
            </a:pPr>
            <a:r>
              <a:rPr sz="1275" b="1">
                <a:solidFill>
                  <a:srgbClr val="A9CBE8"/>
                </a:solidFill>
              </a:rPr>
              <a:t>36 trained configurations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63AB8-6D54-4167-ADA1-6B08F84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6 datasets × 6 model variants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C34F4-7E13-46F9-AF61-2DD986B4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048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0">
                <a:solidFill>
                  <a:srgbClr val="A9CBE8"/>
                </a:solidFill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A9CBE8"/>
                </a:solidFill>
              </a:defRPr>
            </a:pPr>
            <a:r>
              <a:rPr sz="1050" b="0">
                <a:solidFill>
                  <a:srgbClr val="A9CBE8"/>
                </a:solidFill>
              </a:rPr>
              <a:t>Supervisor discussion</a:t>
            </a:r>
          </a:p>
        </p:txBody>
      </p:sp>
    </p:spTree>
    <p:extLst>
      <p:ext uri="{BB962C8B-B14F-4D97-AF65-F5344CB8AC3E}">
        <p14:creationId xmlns:p14="http://schemas.microsoft.com/office/powerpoint/2010/main" val="1563225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C2AF5-3F30-4BF6-95E7-28E67EB9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Experimental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52ACD-1DA4-412D-8B8F-BED701DE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91741-99DA-4BFF-AAE4-5BE9A709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5C082-0615-4057-AB60-8D45EB31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Reference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91AC5-514C-4101-BFF1-EB168048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Full RS-BDNet combines ResNet-34 U-Net and Swin-Tiny branches, cross-attention, building guidance, and ordinal supervision.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A9135-6C8F-47AF-88A7-3BA29AC687C7}"/>
              </a:ext>
            </a:extLst>
          </p:cNvPr>
          <p:cNvGraphicFramePr/>
          <p:nvPr/>
        </p:nvGraphicFramePr>
        <p:xfrm>
          <a:off xmlns:a="http://schemas.openxmlformats.org/drawingml/2006/main" x="5095875" y="1200150"/>
          <a:ext xmlns:a="http://schemas.openxmlformats.org/drawingml/2006/main" cx="6429375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38625"/>
              </a:tblGrid>
              <a:tr h="585107">
                <a:tc>
                  <a:txBody>
                    <a:bodyPr/>
                    <a:lstStyle/>
                    <a:p>
                      <a:r>
                        <a:t>Configuration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Full RS-BDNet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Reference architecture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ResNet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Remove Transformer branch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Swin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Remove CNN branch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No cross-attention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Remove explicit bi-temporal interaction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No building guidance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Remove localization-guided refinement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No ordinal learning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Remove severity-aware auxiliary 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B0062-AFE4-4EB2-9F18-5F1F96DE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Same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BF5E2-19EC-48A1-A41F-6C77790A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Within each dataset, all variants used the same partitions, preprocessing, optimization, validation-based model selection, and held-out test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3CA8C-F926-49A4-8BF1-E3CE66D4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5A00"/>
                </a:solidFill>
              </a:defRPr>
            </a:pPr>
            <a:r>
              <a:rPr sz="1350" b="1">
                <a:solidFill>
                  <a:srgbClr val="8A5A00"/>
                </a:solidFill>
              </a:rPr>
              <a:t>One run per dataset–variant 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C7BD6-DD86-4366-A293-C67623EE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Six-dataset RS-BDNet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1057033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C4044-2AE7-4DFB-89AC-99FB0DC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Damage Macro-F1 varies by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6E201-83C8-44ED-A9A8-E378AF11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A6CF5-7962-400F-9D2E-D73F117A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2AF44-5FD5-477D-A3F7-8B2F4F57E3A2}"/>
              </a:ext>
            </a:extLst>
          </p:cNvPr>
          <p:cNvGraphicFramePr/>
          <p:nvPr/>
        </p:nvGraphicFramePr>
        <p:xfrm>
          <a:off xmlns:a="http://schemas.openxmlformats.org/drawingml/2006/main" x="400050" y="1200150"/>
          <a:ext xmlns:a="http://schemas.openxmlformats.org/drawingml/2006/main" cx="113919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571625"/>
                <a:gridCol w="1571625"/>
                <a:gridCol w="1571625"/>
                <a:gridCol w="1571625"/>
                <a:gridCol w="1571625"/>
                <a:gridCol w="1571625"/>
              </a:tblGrid>
              <a:tr h="585107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Full RS-BDNet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ResNet 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Swin 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 cross-attention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 building guidance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 ordinal learning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xBD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0.7756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0.7255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0.7679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Earthquake Turkey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0.6115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0.5105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0.5833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0.5093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0.6071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Mount Semeru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0.5966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0.4450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0.4860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0.4967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0.5730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0.5844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Texas Tornadoes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0.5356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0.3749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0.5292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0.5868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0.3729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0.5476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Hurricane Delta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0.6769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0.6726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0.6724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0.6913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0.6989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0.7221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t>Pakistan Flooding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0.7990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0.6970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0.8108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937"/>
                          </a:solidFill>
                        </a:rPr>
                        <a:t>0.8139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0.7598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0.7147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CBBC0-1B06-41CE-8CBD-AEC9EF41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435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The full model leads on xBD, Earthquake Turkey, and Mount Semeru. Specific ablations lead on Texas Tornadoes, Hurricane Delta, and Pakistan Flooding, showing event-dependent module effects.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712D5-9DF9-4B25-8AC7-E2A3E5B7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Six-dataset RS-BDNet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153614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1FA49-74AF-4FF7-B206-0581B10D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The full model has the highest mean Macro-F1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D2342-E5DF-4D39-B32D-3F8A1462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B4301-E780-49D3-BE82-D3829B75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43EC8781-E88B-4CC8-97F4-07DFFFA4F9F6}"/>
              </a:ext>
            </a:extLst>
          </p:cNvPr>
          <p:cNvGraphicFramePr/>
          <p:nvPr/>
        </p:nvGraphicFramePr>
        <p:xfrm>
          <a:off xmlns:a="http://schemas.openxmlformats.org/drawingml/2006/main" x="552450" y="1219200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aae8fc39034900"/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A3FEE-2FCB-46B3-909A-ECDD91499D2E}"/>
              </a:ext>
            </a:extLst>
          </p:cNvPr>
          <p:cNvGraphicFramePr/>
          <p:nvPr/>
        </p:nvGraphicFramePr>
        <p:xfrm>
          <a:off xmlns:a="http://schemas.openxmlformats.org/drawingml/2006/main" x="8096250" y="1352550"/>
          <a:ext xmlns:a="http://schemas.openxmlformats.org/drawingml/2006/main" cx="33337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857250"/>
                <a:gridCol w="666750"/>
              </a:tblGrid>
              <a:tr h="483054"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Full better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t>Full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0/6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t>ResNet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0.0949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6/6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t>Swin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0.0246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5/6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t>No cross-attention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0.0212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3/6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t>No building guidance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0.0369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5/6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483054">
                <a:tc>
                  <a:txBody>
                    <a:bodyPr/>
                    <a:lstStyle/>
                    <a:p>
                      <a:r>
                        <a:t>No ordinal learning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0.0159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4/6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98FF2-626B-41F3-9AD7-FF78B2A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292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F2937"/>
                </a:solidFill>
              </a:defRPr>
            </a:pPr>
            <a:r>
              <a:rPr sz="1275" b="0">
                <a:solidFill>
                  <a:srgbClr val="1F2937"/>
                </a:solidFill>
              </a:rPr>
              <a:t>Removing the ResNet branch causes the largest average loss (0.0949). The full configuration outperforms that variant on all six datasets.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FC818-EEDD-4512-8CA2-040CD76F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Six-dataset RS-BDNet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321539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A741B-443B-42BC-8589-0B2F2B8E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Accuracy–parameter tradeoff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960A0-5D86-4D2A-9F1D-2D0E8959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66BBA-6D9E-4668-BCCD-7574B2E7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B8E9D-6F7E-42BD-97F3-241130C46F2E}"/>
              </a:ext>
            </a:extLst>
          </p:cNvPr>
          <p:cNvGraphicFramePr/>
          <p:nvPr/>
        </p:nvGraphicFramePr>
        <p:xfrm>
          <a:off xmlns:a="http://schemas.openxmlformats.org/drawingml/2006/main" x="762000" y="125730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524000"/>
                <a:gridCol w="1381125"/>
                <a:gridCol w="1381125"/>
              </a:tblGrid>
              <a:tr h="557893">
                <a:tc>
                  <a:txBody>
                    <a:bodyPr/>
                    <a:lstStyle/>
                    <a:p>
                      <a:r>
                        <a:t>Configuration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Macro-F1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Parameters (M)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Full RS-BDNet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0.6658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55.304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ResNet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0.5709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26.659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0.0949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Swin only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0.6412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28.998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0.0246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No cross-attention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0.6446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55.154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0.0212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No building guidance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0.6289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55.303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0.0369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t>No ordinal learning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55.304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0.0159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A2D14-84A4-4309-81A0-3F7608C4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Key 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7FD39-1937-49F7-9FDC-036179B5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762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The single-branch variants reduce parameters by roughly half, but both reduce average Macro-F1. Removing cross-attention, building guidance, or ordinal learning changes the parameter count negligibly; their value should therefore be judged by performance rather than compression.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E351F-DC12-4E6A-8F2E-17C9C9BC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Best compact option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1F289-B24C-4512-BB8B-5E6B1EF9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006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Swin only: 28.998 M parameters, mean Macro-F1 0.6412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33F5D-86CC-4C11-8F25-AE0234AA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Six-dataset RS-BDNet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121126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867DF-ABCB-4351-A1D2-02252A25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Preliminary cross-dataset statistical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1A218-061A-4223-8596-B2D424F6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098CF-6C1C-4576-BC4D-59427048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38A68-6B99-4A21-99AF-9B8570B243D0}"/>
              </a:ext>
            </a:extLst>
          </p:cNvPr>
          <p:cNvGraphicFramePr/>
          <p:nvPr/>
        </p:nvGraphicFramePr>
        <p:xfrm>
          <a:off xmlns:a="http://schemas.openxmlformats.org/drawingml/2006/main" x="647700" y="1257300"/>
          <a:ext xmlns:a="http://schemas.openxmlformats.org/drawingml/2006/main" cx="10896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286000"/>
                <a:gridCol w="5943600"/>
              </a:tblGrid>
              <a:tr h="714375">
                <a:tc>
                  <a:txBody>
                    <a:bodyPr/>
                    <a:lstStyle/>
                    <a:p>
                      <a:r>
                        <a:t>Analysis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Friedman test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Q = 11.9048; p = 0.0361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At least one configuration differs in cross-dataset rank.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Kendall's 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 = 0.3968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Moderate agreement in configuration ordering across datasets.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Holm-adjusted post-hoc tests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No pair significant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The six datasets provide limited power for individual full-versus-ablation comparisons.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5EF97-6980-470A-9A9A-4F31F68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8A5A00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8A5A00"/>
                </a:solidFill>
              </a:defRPr>
            </a:pPr>
            <a:r>
              <a:rPr sz="1350" b="1">
                <a:solidFill>
                  <a:srgbClr val="8A5A00"/>
                </a:solidFill>
              </a:rPr>
              <a:t>Important limitation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E2CA5-4F37-45AB-B5CA-2AF9A94B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These tests treat the six datasets as paired blocks. They do not measure training variability because each configuration was trained only once per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C3E21-918B-48F9-BD31-B124DCCD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Six-dataset RS-BDNet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105446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9333C-2185-4E5D-8397-B0974456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Recommended next statistical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36E0F-FDB2-4D9D-A8C8-1F1DAD14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81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5B6573"/>
                </a:solidFill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5B6573"/>
                </a:solidFill>
              </a:defRPr>
            </a:pPr>
            <a:r>
              <a:rPr sz="1050" b="1">
                <a:solidFill>
                  <a:srgbClr val="5B6573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3F8CA-F90A-48E6-995D-B351E51E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2F75B5"/>
            </a:solidFill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D2A04-5614-4B13-8E3E-5770BE0A6549}"/>
              </a:ext>
            </a:extLst>
          </p:cNvPr>
          <p:cNvGraphicFramePr/>
          <p:nvPr/>
        </p:nvGraphicFramePr>
        <p:xfrm>
          <a:off xmlns:a="http://schemas.openxmlformats.org/drawingml/2006/main" x="647700" y="1257300"/>
          <a:ext xmlns:a="http://schemas.openxmlformats.org/drawingml/2006/main" cx="108966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6096000"/>
                <a:gridCol w="3990975"/>
              </a:tblGrid>
              <a:tr h="619125"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Procedure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Output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T w="9525">
                      <a:solidFill>
                        <a:srgbClr val="D9E2F3"/>
                      </a:solidFill>
                      <a:prstDash val="solid"/>
                    </a:lnT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Save per-image TP, FP, and FN counts for every model and test image.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Paired image-level observations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Use 10,000 paired bootstrap resamples of identical test images.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95% confidence intervals for metrics and differences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Apply paired Wilcoxon signed-rank tests.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Raw p-values for full model versus each ablation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Apply Holm correction across the five ablation comparisons.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Adjusted p-values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65D"/>
                          </a:solidFill>
                        </a:rPr>
                        <a:t>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2F3"/>
                      </a:solidFill>
                      <a:prstDash val="solid"/>
                    </a:lnL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Repeat selected training experiments with 3–5 random seeds.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Mean ± standard deviation and training-stability 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2F3"/>
                      </a:solidFill>
                      <a:prstDash val="solid"/>
                    </a:lnR>
                    <a:lnB w="9525">
                      <a:solidFill>
                        <a:srgbClr val="D9E2F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168BE-75DE-4440-B933-3E9F7D07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365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Use both levels of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EE076-B78B-4FF0-96F6-9E7060EB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1F2937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F2937"/>
                </a:solidFill>
              </a:defRPr>
            </a:pPr>
            <a:r>
              <a:rPr sz="1425" b="0">
                <a:solidFill>
                  <a:srgbClr val="1F2937"/>
                </a:solidFill>
              </a:rPr>
              <a:t>Image-level resampling measures test-set uncertainty; multiple seeds measure stochastic training variability.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3801E-10BB-4277-B0C5-43627CA3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0">
                <a:solidFill>
                  <a:srgbClr val="7A8491"/>
                </a:solidFill>
              </a:defRPr>
            </a:defPPr>
          </a:lstStyle>
          <a:p xmlns:a="http://schemas.openxmlformats.org/drawingml/2006/main">
            <a:pPr algn="r">
              <a:defRPr sz="825" b="0">
                <a:solidFill>
                  <a:srgbClr val="7A8491"/>
                </a:solidFill>
              </a:defRPr>
            </a:pPr>
            <a:r>
              <a:rPr sz="825" b="0">
                <a:solidFill>
                  <a:srgbClr val="7A8491"/>
                </a:solidFill>
              </a:rPr>
              <a:t>Six-dataset RS-BDNet ablation study</a:t>
            </a:r>
          </a:p>
        </p:txBody>
      </p:sp>
    </p:spTree>
    <p:extLst>
      <p:ext uri="{BB962C8B-B14F-4D97-AF65-F5344CB8AC3E}">
        <p14:creationId xmlns:p14="http://schemas.microsoft.com/office/powerpoint/2010/main" val="421349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2026-10-20T19:24:42.6980000Z</dcterms:created>
  <dcterms:modified xsi:type="dcterms:W3CDTF">2026-10-20T19:24:42.6980000Z</dcterms:modified>
</coreProperties>
</file>